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  <p:sldMasterId id="2147483661" r:id="rId2"/>
    <p:sldMasterId id="2147483673" r:id="rId3"/>
  </p:sldMasterIdLst>
  <p:notesMasterIdLst>
    <p:notesMasterId r:id="rId36"/>
  </p:notesMasterIdLst>
  <p:handoutMasterIdLst>
    <p:handoutMasterId r:id="rId37"/>
  </p:handoutMasterIdLst>
  <p:sldIdLst>
    <p:sldId id="442" r:id="rId4"/>
    <p:sldId id="456" r:id="rId5"/>
    <p:sldId id="458" r:id="rId6"/>
    <p:sldId id="457" r:id="rId7"/>
    <p:sldId id="461" r:id="rId8"/>
    <p:sldId id="460" r:id="rId9"/>
    <p:sldId id="459" r:id="rId10"/>
    <p:sldId id="462" r:id="rId11"/>
    <p:sldId id="469" r:id="rId12"/>
    <p:sldId id="492" r:id="rId13"/>
    <p:sldId id="470" r:id="rId14"/>
    <p:sldId id="471" r:id="rId15"/>
    <p:sldId id="472" r:id="rId16"/>
    <p:sldId id="478" r:id="rId17"/>
    <p:sldId id="479" r:id="rId18"/>
    <p:sldId id="480" r:id="rId19"/>
    <p:sldId id="463" r:id="rId20"/>
    <p:sldId id="465" r:id="rId21"/>
    <p:sldId id="466" r:id="rId22"/>
    <p:sldId id="481" r:id="rId23"/>
    <p:sldId id="482" r:id="rId24"/>
    <p:sldId id="483" r:id="rId25"/>
    <p:sldId id="491" r:id="rId26"/>
    <p:sldId id="484" r:id="rId27"/>
    <p:sldId id="485" r:id="rId28"/>
    <p:sldId id="486" r:id="rId29"/>
    <p:sldId id="487" r:id="rId30"/>
    <p:sldId id="488" r:id="rId31"/>
    <p:sldId id="489" r:id="rId32"/>
    <p:sldId id="490" r:id="rId33"/>
    <p:sldId id="477" r:id="rId34"/>
    <p:sldId id="464" r:id="rId35"/>
  </p:sldIdLst>
  <p:sldSz cx="9144000" cy="6858000" type="screen4x3"/>
  <p:notesSz cx="6858000" cy="9144000"/>
  <p:defaultTextStyle>
    <a:defPPr>
      <a:defRPr lang="en-US"/>
    </a:defPPr>
    <a:lvl1pPr marL="0" lvl="0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lvl="1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lvl="2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lvl="3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lvl="4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lvl="5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lvl="6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lvl="7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lvl="8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Animation="0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3399"/>
    <a:srgbClr val="AC0000"/>
    <a:srgbClr val="3366FF"/>
    <a:srgbClr val="B9077E"/>
    <a:srgbClr val="9C2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709"/>
  </p:normalViewPr>
  <p:slideViewPr>
    <p:cSldViewPr showGuides="1">
      <p:cViewPr varScale="1">
        <p:scale>
          <a:sx n="78" d="100"/>
          <a:sy n="78" d="100"/>
        </p:scale>
        <p:origin x="1618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2880"/>
    </p:cViewPr>
  </p:outlineViewPr>
  <p:notesTextViewPr>
    <p:cViewPr>
      <p:scale>
        <a:sx n="100" d="100"/>
        <a:sy n="100" d="100"/>
      </p:scale>
      <p:origin x="0" y="0"/>
    </p:cViewPr>
  </p:notesTextViewPr>
  <p:sorterViewPr showFormatting="0"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viewProps" Target="viewProps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3435107-8708-4435-A648-F05D96C1AD6E}" type="datetime3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11 November 2024</a:t>
            </a:fld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1-59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41858EF-1881-4336-AB88-9472B4E482B1}" type="slidenum">
              <a:rPr kumimoji="0" lang="en-I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‹#›</a:t>
            </a:fld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459E8410-2BF3-496A-8E5F-58EB0885297C}" type="datetime3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11 November 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Fourth level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1-59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2587D5A1-37CC-4B13-9F17-5059BEF349E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‹#›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>
            <a:solidFill>
              <a:srgbClr val="000000"/>
            </a:solidFill>
            <a:miter/>
          </a:ln>
        </p:spPr>
      </p:sp>
      <p:sp>
        <p:nvSpPr>
          <p:cNvPr id="40963" name="Notes Placeholder 2"/>
          <p:cNvSpPr>
            <a:spLocks noGrp="1"/>
          </p:cNvSpPr>
          <p:nvPr>
            <p:ph type="body" idx="1"/>
          </p:nvPr>
        </p:nvSpPr>
        <p:spPr>
          <a:noFill/>
          <a:ln>
            <a:noFill/>
          </a:ln>
        </p:spPr>
        <p:txBody>
          <a:bodyPr wrap="square" lIns="91440" tIns="45720" rIns="91440" bIns="45720" anchor="t" anchorCtr="0"/>
          <a:lstStyle/>
          <a:p>
            <a:pPr lvl="0"/>
            <a:endParaRPr dirty="0"/>
          </a:p>
        </p:txBody>
      </p:sp>
      <p:sp>
        <p:nvSpPr>
          <p:cNvPr id="4" name="Date Placeholder 3"/>
          <p:cNvSpPr txBox="1">
            <a:spLocks noGrp="1"/>
          </p:cNvSpPr>
          <p:nvPr>
            <p:ph type="dt" sz="half"/>
          </p:nvPr>
        </p:nvSpPr>
        <p:spPr>
          <a:noFill/>
        </p:spPr>
        <p:txBody>
          <a:bodyPr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18AF2988-B82E-4CF8-B97A-4C64C0090307}" type="datetime3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11 November 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Footer Placeholder 4"/>
          <p:cNvSpPr txBox="1">
            <a:spLocks noGrp="1"/>
          </p:cNvSpPr>
          <p:nvPr>
            <p:ph type="ftr" sz="quarter"/>
          </p:nvPr>
        </p:nvSpPr>
        <p:spPr>
          <a:noFill/>
        </p:spPr>
        <p:txBody>
          <a:bodyPr lIns="91440" tIns="45720" rIns="91440" bIns="45720" rtlCol="0" anchor="b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1-59</a:t>
            </a:r>
          </a:p>
        </p:txBody>
      </p:sp>
      <p:sp>
        <p:nvSpPr>
          <p:cNvPr id="40966" name="Slide Number Placeholder 5"/>
          <p:cNvSpPr txBox="1">
            <a:spLocks noGrp="1"/>
          </p:cNvSpPr>
          <p:nvPr>
            <p:ph type="sldNum" sz="quarter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anchor="b" anchorCtr="0"/>
          <a:lstStyle/>
          <a:p>
            <a:pPr lvl="0" algn="r" eaLnBrk="1" hangingPunct="1">
              <a:buNone/>
            </a:pPr>
            <a:fld id="{9A0DB2DC-4C9A-4742-B13C-FB6460FD3503}" type="slidenum">
              <a:rPr lang="en-US" sz="1200" dirty="0">
                <a:latin typeface="Calibri" panose="020F0502020204030204" pitchFamily="34" charset="0"/>
              </a:rPr>
              <a:t>1</a:t>
            </a:fld>
            <a:endParaRPr lang="en-US" sz="12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53" name="Google Shape;25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533400" y="1371600"/>
            <a:ext cx="7851648" cy="1828800"/>
          </a:xfrm>
          <a:ln>
            <a:noFill/>
          </a:ln>
        </p:spPr>
        <p:txBody>
          <a:bodyPr tIns="0" rIns="18288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  <a:contourClr>
                <a:schemeClr val="tx2"/>
              </a:contourClr>
            </a:sp3d>
          </a:bodyPr>
          <a:lstStyle>
            <a:lvl1pPr algn="r" rtl="0">
              <a:spcBef>
                <a:spcPct val="0"/>
              </a:spcBef>
              <a:buNone/>
              <a:defRPr sz="5600" b="1">
                <a:ln>
                  <a:noFill/>
                </a:ln>
                <a:solidFill>
                  <a:schemeClr val="accent3">
                    <a:tint val="90000"/>
                    <a:satMod val="120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533400" y="3228536"/>
            <a:ext cx="7854696" cy="1752600"/>
          </a:xfrm>
        </p:spPr>
        <p:txBody>
          <a:bodyPr lIns="0" rIns="18288"/>
          <a:lstStyle>
            <a:lvl1pPr marL="0" marR="45720" indent="0" algn="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Date Placeholder 9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3-Sep-24</a:t>
            </a:r>
          </a:p>
        </p:txBody>
      </p:sp>
      <p:sp>
        <p:nvSpPr>
          <p:cNvPr id="6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7239000" y="6477000"/>
            <a:ext cx="1447800" cy="381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9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3-Sep-24</a:t>
            </a:r>
          </a:p>
        </p:txBody>
      </p:sp>
      <p:sp>
        <p:nvSpPr>
          <p:cNvPr id="6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7239000" y="6477000"/>
            <a:ext cx="1447800" cy="381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52" y="1316736"/>
            <a:ext cx="7772400" cy="1362456"/>
          </a:xfrm>
          <a:ln>
            <a:noFill/>
          </a:ln>
        </p:spPr>
        <p:txBody>
          <a:bodyPr tIns="0">
            <a:no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</a:sp3d>
          </a:bodyPr>
          <a:lstStyle>
            <a:lvl1pPr algn="l" rtl="0">
              <a:spcBef>
                <a:spcPct val="0"/>
              </a:spcBef>
              <a:buNone/>
              <a:defRPr lang="en-US" sz="5600" b="1" cap="none" baseline="0" dirty="0">
                <a:ln w="635">
                  <a:noFill/>
                </a:ln>
                <a:solidFill>
                  <a:schemeClr val="accent4">
                    <a:tint val="90000"/>
                    <a:satMod val="125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52" y="2704664"/>
            <a:ext cx="7772400" cy="1509712"/>
          </a:xfrm>
        </p:spPr>
        <p:txBody>
          <a:bodyPr lIns="45720" rIns="45720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9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3-Sep-24</a:t>
            </a:r>
          </a:p>
        </p:txBody>
      </p:sp>
      <p:sp>
        <p:nvSpPr>
          <p:cNvPr id="6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7239000" y="6477000"/>
            <a:ext cx="1447800" cy="381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9"/>
          <p:cNvSpPr>
            <a:spLocks noGrp="1"/>
          </p:cNvSpPr>
          <p:nvPr>
            <p:ph type="dt" sz="half" idx="1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3-Sep-24</a:t>
            </a:r>
          </a:p>
        </p:txBody>
      </p:sp>
      <p:sp>
        <p:nvSpPr>
          <p:cNvPr id="6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7239000" y="6477000"/>
            <a:ext cx="1447800" cy="381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855248"/>
            <a:ext cx="4040188" cy="659352"/>
          </a:xfrm>
        </p:spPr>
        <p:txBody>
          <a:bodyPr lIns="45720" tIns="0" rIns="45720" bIns="0" anchor="ctr">
            <a:noAutofit/>
          </a:bodyPr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5" y="1859757"/>
            <a:ext cx="4041775" cy="654843"/>
          </a:xfrm>
        </p:spPr>
        <p:txBody>
          <a:bodyPr lIns="45720" tIns="0" rIns="45720" bIns="0" anchor="ctr"/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2514600"/>
            <a:ext cx="4040188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514600"/>
            <a:ext cx="4041775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9"/>
          <p:cNvSpPr>
            <a:spLocks noGrp="1"/>
          </p:cNvSpPr>
          <p:nvPr>
            <p:ph type="dt" sz="half" idx="1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3-Sep-24</a:t>
            </a:r>
          </a:p>
        </p:txBody>
      </p:sp>
      <p:sp>
        <p:nvSpPr>
          <p:cNvPr id="8" name="Footer Placeholder 21"/>
          <p:cNvSpPr>
            <a:spLocks noGrp="1"/>
          </p:cNvSpPr>
          <p:nvPr>
            <p:ph type="ftr" sz="quarter" idx="13"/>
          </p:nvPr>
        </p:nvSpPr>
        <p:spPr>
          <a:xfrm>
            <a:off x="7239000" y="6477000"/>
            <a:ext cx="1447800" cy="381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04088"/>
            <a:ext cx="8305800" cy="1143000"/>
          </a:xfrm>
        </p:spPr>
        <p:txBody>
          <a:bodyPr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contourClr>
                <a:schemeClr val="tx2"/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50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9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3-Sep-24</a:t>
            </a:r>
          </a:p>
        </p:txBody>
      </p:sp>
      <p:sp>
        <p:nvSpPr>
          <p:cNvPr id="6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7239000" y="6477000"/>
            <a:ext cx="1447800" cy="381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9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3-Sep-24</a:t>
            </a:r>
          </a:p>
        </p:txBody>
      </p:sp>
      <p:sp>
        <p:nvSpPr>
          <p:cNvPr id="6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7239000" y="6477000"/>
            <a:ext cx="1447800" cy="381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514352"/>
            <a:ext cx="2743200" cy="1162050"/>
          </a:xfrm>
        </p:spPr>
        <p:txBody>
          <a:bodyPr>
            <a:noAutofit/>
          </a:bodyPr>
          <a:lstStyle>
            <a:lvl1pPr algn="l" rtl="0">
              <a:spcBef>
                <a:spcPct val="0"/>
              </a:spcBef>
              <a:buNone/>
              <a:defRPr sz="26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85800" y="1676400"/>
            <a:ext cx="2743200" cy="4572000"/>
          </a:xfrm>
        </p:spPr>
        <p:txBody>
          <a:bodyPr lIns="18288" rIns="18288"/>
          <a:lstStyle>
            <a:lvl1pPr marL="0" indent="0" algn="l">
              <a:buNone/>
              <a:defRPr sz="1400"/>
            </a:lvl1pPr>
            <a:lvl2pPr indent="0" algn="l">
              <a:buNone/>
              <a:defRPr sz="1200"/>
            </a:lvl2pPr>
            <a:lvl3pPr indent="0" algn="l">
              <a:buNone/>
              <a:defRPr sz="1000"/>
            </a:lvl3pPr>
            <a:lvl4pPr indent="0" algn="l">
              <a:buNone/>
              <a:defRPr sz="900"/>
            </a:lvl4pPr>
            <a:lvl5pPr indent="0" algn="l">
              <a:buNone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3575050" y="1676400"/>
            <a:ext cx="5111750" cy="4572000"/>
          </a:xfrm>
        </p:spPr>
        <p:txBody>
          <a:bodyPr tIns="0"/>
          <a:lstStyle>
            <a:lvl1pPr>
              <a:defRPr sz="2800"/>
            </a:lvl1pPr>
            <a:lvl2pPr>
              <a:defRPr sz="26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9"/>
          <p:cNvSpPr>
            <a:spLocks noGrp="1"/>
          </p:cNvSpPr>
          <p:nvPr>
            <p:ph type="dt" sz="half" idx="1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3-Sep-24</a:t>
            </a:r>
          </a:p>
        </p:txBody>
      </p:sp>
      <p:sp>
        <p:nvSpPr>
          <p:cNvPr id="6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7239000" y="6477000"/>
            <a:ext cx="1447800" cy="381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nip and Round Single Corner Rectangle 4"/>
          <p:cNvSpPr/>
          <p:nvPr/>
        </p:nvSpPr>
        <p:spPr>
          <a:xfrm rot="420000" flipV="1">
            <a:off x="3165475" y="1108075"/>
            <a:ext cx="5257800" cy="411480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3175" cap="rnd" cmpd="sng" algn="ctr">
            <a:solidFill>
              <a:srgbClr val="C0C0C0"/>
            </a:solidFill>
            <a:prstDash val="solid"/>
          </a:ln>
          <a:effectLst>
            <a:outerShdw blurRad="63500" dist="38500" dir="7500000" sx="98500" sy="100080" kx="100000" algn="tl" rotWithShape="0">
              <a:srgbClr val="000000">
                <a:alpha val="25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Right Triangle 5"/>
          <p:cNvSpPr/>
          <p:nvPr/>
        </p:nvSpPr>
        <p:spPr>
          <a:xfrm rot="420000" flipV="1">
            <a:off x="8004175" y="5359400"/>
            <a:ext cx="155575" cy="155575"/>
          </a:xfrm>
          <a:prstGeom prst="rtTriangle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bevel/>
          </a:ln>
          <a:effectLst>
            <a:outerShdw blurRad="19685" dist="6350" dir="12900000" algn="tl" rotWithShape="0">
              <a:srgbClr val="000000">
                <a:alpha val="47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7" name="Freeform 6"/>
          <p:cNvSpPr/>
          <p:nvPr/>
        </p:nvSpPr>
        <p:spPr bwMode="auto">
          <a:xfrm flipV="1">
            <a:off x="-9525" y="5816600"/>
            <a:ext cx="916305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Freeform 7"/>
          <p:cNvSpPr/>
          <p:nvPr/>
        </p:nvSpPr>
        <p:spPr bwMode="auto">
          <a:xfrm flipV="1">
            <a:off x="4381500" y="6219825"/>
            <a:ext cx="47625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176996"/>
            <a:ext cx="2212848" cy="1582621"/>
          </a:xfrm>
        </p:spPr>
        <p:txBody>
          <a:bodyPr lIns="45720" rIns="45720" bIns="45720"/>
          <a:lstStyle>
            <a:lvl1pPr algn="l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2828785"/>
            <a:ext cx="2209800" cy="2179320"/>
          </a:xfrm>
        </p:spPr>
        <p:txBody>
          <a:bodyPr lIns="64008" rIns="45720"/>
          <a:lstStyle>
            <a:lvl1pPr marL="0" indent="0" algn="l">
              <a:spcBef>
                <a:spcPts val="250"/>
              </a:spcBef>
              <a:buFontTx/>
              <a:buNone/>
              <a:defRPr sz="13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 rot="420000">
            <a:off x="3485793" y="1199517"/>
            <a:ext cx="4617720" cy="3931920"/>
          </a:xfrm>
          <a:prstGeom prst="rect">
            <a:avLst/>
          </a:prstGeom>
          <a:solidFill>
            <a:schemeClr val="bg2"/>
          </a:solidFill>
          <a:ln w="3000" cap="rnd">
            <a:solidFill>
              <a:srgbClr val="C0C0C0"/>
            </a:solidFill>
            <a:round/>
          </a:ln>
          <a:effectLst/>
        </p:spPr>
        <p:txBody>
          <a:bodyPr vert="horz" wrap="square" lIns="91440" tIns="45720" rIns="91440" bIns="45720" numCol="1" anchor="t" anchorCtr="0" compatLnSpc="1">
            <a:normAutofit/>
          </a:bodyPr>
          <a:lstStyle>
            <a:lvl1pPr marL="0" indent="0">
              <a:buNone/>
              <a:defRPr sz="3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None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icon to add picture</a:t>
            </a:r>
          </a:p>
        </p:txBody>
      </p:sp>
      <p:sp>
        <p:nvSpPr>
          <p:cNvPr id="9" name="Date Placeholder 4"/>
          <p:cNvSpPr>
            <a:spLocks noGrp="1"/>
          </p:cNvSpPr>
          <p:nvPr>
            <p:ph type="dt" sz="half" idx="1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3-Sep-24</a:t>
            </a:r>
          </a:p>
        </p:txBody>
      </p:sp>
      <p:sp>
        <p:nvSpPr>
          <p:cNvPr id="11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7239000" y="6477000"/>
            <a:ext cx="1447800" cy="381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9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3-Sep-24</a:t>
            </a:r>
          </a:p>
        </p:txBody>
      </p:sp>
      <p:sp>
        <p:nvSpPr>
          <p:cNvPr id="6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7239000" y="6477000"/>
            <a:ext cx="1447800" cy="381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914401"/>
            <a:ext cx="2057400" cy="521176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914401"/>
            <a:ext cx="6019800" cy="52117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9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3-Sep-24</a:t>
            </a:r>
          </a:p>
        </p:txBody>
      </p:sp>
      <p:sp>
        <p:nvSpPr>
          <p:cNvPr id="6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7239000" y="6477000"/>
            <a:ext cx="1447800" cy="381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2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0" tIns="0" rIns="0" bIns="0" anchor="b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3-Sep-24</a:t>
            </a:r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7239000" y="6477000"/>
            <a:ext cx="1447800" cy="38100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3-Sep-24</a:t>
            </a: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248400" y="6248400"/>
            <a:ext cx="28956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3-Sep-24</a:t>
            </a: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248400" y="6248400"/>
            <a:ext cx="28956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3-Sep-24</a:t>
            </a: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248400" y="6248400"/>
            <a:ext cx="28956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3-Sep-24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6248400" y="6248400"/>
            <a:ext cx="28956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3-Sep-24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3"/>
          </p:nvPr>
        </p:nvSpPr>
        <p:spPr>
          <a:xfrm>
            <a:off x="6248400" y="6248400"/>
            <a:ext cx="28956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2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3-Sep-24</a:t>
            </a:r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6248400" y="6248400"/>
            <a:ext cx="28956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3-Sep-24</a:t>
            </a:r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6248400" y="6248400"/>
            <a:ext cx="28956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3-Sep-24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6248400" y="6248400"/>
            <a:ext cx="28956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3-Sep-24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6248400" y="6248400"/>
            <a:ext cx="28956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3-Sep-24</a:t>
            </a: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248400" y="6248400"/>
            <a:ext cx="28956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3-Sep-24</a:t>
            </a:r>
          </a:p>
        </p:txBody>
      </p:sp>
    </p:spTree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3-Sep-24</a:t>
            </a: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388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3-Sep-24</a:t>
            </a: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388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3-Sep-24</a:t>
            </a: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388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3-Sep-24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56388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3-Sep-24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3"/>
          </p:nvPr>
        </p:nvSpPr>
        <p:spPr>
          <a:xfrm>
            <a:off x="56388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2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3-Sep-24</a:t>
            </a:r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56388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3-Sep-24</a:t>
            </a:r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56388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3-Sep-24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56388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3-Sep-24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56388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3-Sep-24</a:t>
            </a: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388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3-Sep-24</a:t>
            </a: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388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7/15</a:t>
            </a:r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1.xml"/><Relationship Id="rId3" Type="http://schemas.openxmlformats.org/officeDocument/2006/relationships/slideLayout" Target="../slideLayouts/slideLayout26.xml"/><Relationship Id="rId7" Type="http://schemas.openxmlformats.org/officeDocument/2006/relationships/slideLayout" Target="../slideLayouts/slideLayout30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34.xml"/><Relationship Id="rId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33.xml"/><Relationship Id="rId4" Type="http://schemas.openxmlformats.org/officeDocument/2006/relationships/slideLayout" Target="../slideLayouts/slideLayout27.xml"/><Relationship Id="rId9" Type="http://schemas.openxmlformats.org/officeDocument/2006/relationships/slideLayout" Target="../slideLayouts/slideLayout3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8"/>
          <p:cNvSpPr>
            <a:spLocks noGrp="1"/>
          </p:cNvSpPr>
          <p:nvPr>
            <p:ph type="title"/>
          </p:nvPr>
        </p:nvSpPr>
        <p:spPr>
          <a:xfrm>
            <a:off x="457200" y="704850"/>
            <a:ext cx="8229600" cy="1143000"/>
          </a:xfrm>
          <a:prstGeom prst="rect">
            <a:avLst/>
          </a:prstGeom>
          <a:noFill/>
          <a:ln w="9525">
            <a:noFill/>
          </a:ln>
        </p:spPr>
        <p:txBody>
          <a:bodyPr lIns="0" rIns="0" bIns="0" anchor="b" anchorCtr="0"/>
          <a:lstStyle/>
          <a:p>
            <a:pPr lvl="0"/>
            <a:r>
              <a:rPr dirty="0"/>
              <a:t>Click to edit Master title style</a:t>
            </a:r>
          </a:p>
        </p:txBody>
      </p:sp>
      <p:sp>
        <p:nvSpPr>
          <p:cNvPr id="1027" name="Text Placeholder 29"/>
          <p:cNvSpPr>
            <a:spLocks noGrp="1"/>
          </p:cNvSpPr>
          <p:nvPr>
            <p:ph type="body" idx="1"/>
          </p:nvPr>
        </p:nvSpPr>
        <p:spPr>
          <a:xfrm>
            <a:off x="457200" y="1935163"/>
            <a:ext cx="8229600" cy="4389437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r>
              <a:rPr dirty="0"/>
              <a:t>Click to edit Master text styles</a:t>
            </a:r>
          </a:p>
          <a:p>
            <a:pPr lvl="1"/>
            <a:r>
              <a:rPr dirty="0"/>
              <a:t>Second level</a:t>
            </a:r>
          </a:p>
          <a:p>
            <a:pPr lvl="2"/>
            <a:r>
              <a:rPr dirty="0"/>
              <a:t>Third level</a:t>
            </a:r>
          </a:p>
          <a:p>
            <a:pPr lvl="3"/>
            <a:r>
              <a:rPr dirty="0"/>
              <a:t>Fourth level</a:t>
            </a:r>
          </a:p>
          <a:p>
            <a:pPr lvl="4"/>
            <a:r>
              <a:rPr dirty="0"/>
              <a:t>Fifth level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000">
                <a:solidFill>
                  <a:schemeClr val="tx1"/>
                </a:solidFill>
                <a:latin typeface="+mn-lt"/>
                <a:cs typeface="+mn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3-Sep-24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>
    <p:fade/>
  </p:transition>
  <p:hf sldNum="0"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accent1"/>
          </a:solidFill>
          <a:latin typeface="Arial" panose="020B0604020202020204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accent1"/>
          </a:solidFill>
          <a:latin typeface="Arial" panose="020B0604020202020204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accent1"/>
          </a:solidFill>
          <a:latin typeface="Arial" panose="020B0604020202020204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accent1"/>
          </a:solidFill>
          <a:latin typeface="Arial" panose="020B0604020202020204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anose="020F0502020204030204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anose="020F0502020204030204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anose="020F0502020204030204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anose="020F0502020204030204" pitchFamily="34" charset="0"/>
        </a:defRPr>
      </a:lvl9pPr>
    </p:titleStyle>
    <p:bodyStyle>
      <a:lvl1pPr marL="273050" indent="-273050" algn="l" rtl="0" eaLnBrk="0" fontAlgn="base" hangingPunct="0">
        <a:spcBef>
          <a:spcPct val="20000"/>
        </a:spcBef>
        <a:spcAft>
          <a:spcPct val="0"/>
        </a:spcAft>
        <a:buSzPct val="80000"/>
        <a:buFont typeface="Wingdings" panose="05000000000000000000" pitchFamily="2" charset="2"/>
        <a:buChar char="Ø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46380" algn="l" rtl="0" eaLnBrk="0" fontAlgn="base" hangingPunct="0">
        <a:spcBef>
          <a:spcPct val="20000"/>
        </a:spcBef>
        <a:spcAft>
          <a:spcPct val="0"/>
        </a:spcAft>
        <a:buSzPct val="80000"/>
        <a:buFont typeface="Wingdings" panose="05000000000000000000" pitchFamily="2" charset="2"/>
        <a:buChar char="Ø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46380" algn="l" rtl="0" eaLnBrk="0" fontAlgn="base" hangingPunct="0">
        <a:spcBef>
          <a:spcPct val="20000"/>
        </a:spcBef>
        <a:spcAft>
          <a:spcPct val="0"/>
        </a:spcAft>
        <a:buSzPct val="80000"/>
        <a:buFont typeface="Wingdings" panose="05000000000000000000" pitchFamily="2" charset="2"/>
        <a:buChar char="Ø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187450" indent="-209550" algn="l" rtl="0" eaLnBrk="0" fontAlgn="base" hangingPunct="0">
        <a:spcBef>
          <a:spcPct val="20000"/>
        </a:spcBef>
        <a:spcAft>
          <a:spcPct val="0"/>
        </a:spcAft>
        <a:buSzPct val="80000"/>
        <a:buFont typeface="Wingdings" panose="05000000000000000000" pitchFamily="2" charset="2"/>
        <a:buChar char="Ø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62405" indent="-209550" algn="l" rtl="0" eaLnBrk="0" fontAlgn="base" hangingPunct="0">
        <a:spcBef>
          <a:spcPct val="20000"/>
        </a:spcBef>
        <a:spcAft>
          <a:spcPct val="0"/>
        </a:spcAft>
        <a:buSzPct val="80000"/>
        <a:buFont typeface="Wingdings" panose="05000000000000000000" pitchFamily="2" charset="2"/>
        <a:buChar char="Ø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210185" algn="l" rtl="0" eaLnBrk="1" latinLnBrk="0" hangingPunct="1">
        <a:spcBef>
          <a:spcPct val="20000"/>
        </a:spcBef>
        <a:buClr>
          <a:schemeClr val="accent5"/>
        </a:buClr>
        <a:buSzPct val="80000"/>
        <a:buFont typeface="Wingdings 2" panose="05020102010507070707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 panose="05020102010507070707"/>
        <a:buChar char="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182880" algn="l" rtl="0" eaLnBrk="1" latinLnBrk="0" hangingPunct="1">
        <a:spcBef>
          <a:spcPct val="20000"/>
        </a:spcBef>
        <a:buClr>
          <a:schemeClr val="tx2"/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182880" algn="l" rtl="0" eaLnBrk="1" latinLnBrk="0" hangingPunct="1">
        <a:spcBef>
          <a:spcPct val="20000"/>
        </a:spcBef>
        <a:buClr>
          <a:schemeClr val="tx2"/>
        </a:buClr>
        <a:buFontTx/>
        <a:buChar char="•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/>
          <a:p>
            <a:pPr lvl="0"/>
            <a:r>
              <a:rPr dirty="0"/>
              <a:t>Click to edit Master title style</a:t>
            </a:r>
          </a:p>
        </p:txBody>
      </p:sp>
      <p:sp>
        <p:nvSpPr>
          <p:cNvPr id="2051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r>
              <a:rPr dirty="0"/>
              <a:t>Click to edit Master text styles</a:t>
            </a:r>
          </a:p>
          <a:p>
            <a:pPr lvl="1"/>
            <a:r>
              <a:rPr dirty="0"/>
              <a:t>Second level</a:t>
            </a:r>
          </a:p>
          <a:p>
            <a:pPr lvl="2"/>
            <a:r>
              <a:rPr dirty="0"/>
              <a:t>Third level</a:t>
            </a:r>
          </a:p>
          <a:p>
            <a:pPr lvl="3"/>
            <a:r>
              <a:rPr dirty="0"/>
              <a:t>Fourth level</a:t>
            </a:r>
          </a:p>
          <a:p>
            <a:pPr lvl="4"/>
            <a:r>
              <a:rPr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3-Sep-24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ransition>
    <p:fade/>
  </p:transition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/>
          <a:p>
            <a:pPr lvl="0"/>
            <a:r>
              <a:rPr dirty="0"/>
              <a:t>Click to edit Master title style</a:t>
            </a:r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r>
              <a:rPr dirty="0"/>
              <a:t>Click to edit Master text styles</a:t>
            </a:r>
          </a:p>
          <a:p>
            <a:pPr lvl="1"/>
            <a:r>
              <a:rPr dirty="0"/>
              <a:t>Second level</a:t>
            </a:r>
          </a:p>
          <a:p>
            <a:pPr lvl="2"/>
            <a:r>
              <a:rPr dirty="0"/>
              <a:t>Third level</a:t>
            </a:r>
          </a:p>
          <a:p>
            <a:pPr lvl="3"/>
            <a:r>
              <a:rPr dirty="0"/>
              <a:t>Fourth level</a:t>
            </a:r>
          </a:p>
          <a:p>
            <a:pPr lvl="4"/>
            <a:r>
              <a:rPr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3-Sep-24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transition>
    <p:fade/>
  </p:transition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0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employee-management-system-x7bb.onrender.com/" TargetMode="External"/><Relationship Id="rId7" Type="http://schemas.openxmlformats.org/officeDocument/2006/relationships/hyperlink" Target="https://www.twilio.com/docs" TargetMode="External"/><Relationship Id="rId2" Type="http://schemas.openxmlformats.org/officeDocument/2006/relationships/hyperlink" Target="https://github.com/Immanuvel1207/employee-Management-System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docs.mongodb.com/" TargetMode="External"/><Relationship Id="rId5" Type="http://schemas.openxmlformats.org/officeDocument/2006/relationships/hyperlink" Target="https://reactjs.org/docs/getting-started.html" TargetMode="External"/><Relationship Id="rId4" Type="http://schemas.openxmlformats.org/officeDocument/2006/relationships/hyperlink" Target="https://nodejs.org/en/docs" TargetMode="Externa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>
            <a:lum/>
          </a:blip>
          <a:srcRect/>
          <a:tile tx="0" ty="0" sx="100000" sy="8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TextShape 1"/>
          <p:cNvSpPr txBox="1"/>
          <p:nvPr/>
        </p:nvSpPr>
        <p:spPr>
          <a:xfrm>
            <a:off x="1752600" y="2362200"/>
            <a:ext cx="7239000" cy="1600200"/>
          </a:xfrm>
          <a:prstGeom prst="rect">
            <a:avLst/>
          </a:prstGeom>
          <a:noFill/>
          <a:ln w="9525">
            <a:noFill/>
          </a:ln>
        </p:spPr>
        <p:txBody>
          <a:bodyPr lIns="0" rIns="18360"/>
          <a:lstStyle/>
          <a:p>
            <a:pPr algn="ctr">
              <a:buNone/>
            </a:pPr>
            <a:endParaRPr lang="zh-CN" altLang="x-none">
              <a:latin typeface="Arial" panose="020B0604020202020204" pitchFamily="34" charset="0"/>
            </a:endParaRPr>
          </a:p>
          <a:p>
            <a:pPr algn="ctr">
              <a:buNone/>
            </a:pPr>
            <a:r>
              <a:rPr sz="3200" b="1" dirty="0">
                <a:solidFill>
                  <a:srgbClr val="B9077E"/>
                </a:solidFill>
                <a:latin typeface="Arial" panose="020B0604020202020204" pitchFamily="34" charset="0"/>
              </a:rPr>
              <a:t>    </a:t>
            </a:r>
            <a:endParaRPr lang="zh-CN" altLang="x-none">
              <a:latin typeface="Arial" panose="020B0604020202020204" pitchFamily="34" charset="0"/>
            </a:endParaRPr>
          </a:p>
        </p:txBody>
      </p:sp>
      <p:pic>
        <p:nvPicPr>
          <p:cNvPr id="39939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25400"/>
            <a:ext cx="1373188" cy="10668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9940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4495800"/>
            <a:ext cx="1477963" cy="18415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" name="TextShape 3"/>
          <p:cNvSpPr txBox="1"/>
          <p:nvPr/>
        </p:nvSpPr>
        <p:spPr>
          <a:xfrm>
            <a:off x="1447800" y="2012937"/>
            <a:ext cx="7252769" cy="1165225"/>
          </a:xfrm>
          <a:prstGeom prst="rect">
            <a:avLst/>
          </a:prstGeom>
        </p:spPr>
        <p:txBody>
          <a:bodyPr lIns="0" tIns="0" rIns="18360" bIns="0" anchor="b"/>
          <a:lstStyle/>
          <a:p>
            <a:pPr marR="0" algn="ctr" defTabSz="914400">
              <a:buClrTx/>
              <a:buSzTx/>
              <a:buFontTx/>
              <a:buNone/>
              <a:defRPr/>
            </a:pPr>
            <a:r>
              <a:rPr lang="en-GB" sz="2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EMPLOYEE MANAGEMENT SYSTEM</a:t>
            </a:r>
          </a:p>
          <a:p>
            <a:pPr marR="0" algn="ctr" defTabSz="914400">
              <a:buClrTx/>
              <a:buSzTx/>
              <a:buFontTx/>
              <a:buNone/>
              <a:defRPr/>
            </a:pPr>
            <a:endParaRPr lang="en-GB" sz="32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defRPr/>
            </a:pPr>
            <a:r>
              <a:rPr lang="en-US" sz="1600" dirty="0"/>
              <a:t>       Revolutionizing Workforce Management with Integrated Solutions</a:t>
            </a:r>
          </a:p>
          <a:p>
            <a:pPr marR="0" algn="ctr" defTabSz="914400">
              <a:buClrTx/>
              <a:buSzTx/>
              <a:buFontTx/>
              <a:buNone/>
              <a:defRPr/>
            </a:pPr>
            <a:endParaRPr kumimoji="0" sz="2800" b="1" kern="1200" cap="none" spc="0" normalizeH="0" baseline="0" noProof="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Google Shape;213;p38"/>
          <p:cNvSpPr txBox="1"/>
          <p:nvPr/>
        </p:nvSpPr>
        <p:spPr>
          <a:xfrm>
            <a:off x="2819206" y="3200285"/>
            <a:ext cx="6035351" cy="3234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18275" bIns="45700" anchor="t" anchorCtr="0">
            <a:normAutofit/>
          </a:bodyPr>
          <a:lstStyle/>
          <a:p>
            <a:pPr marL="0" marR="45720" lvl="0" indent="0" algn="ctr" rtl="0">
              <a:spcBef>
                <a:spcPts val="360"/>
              </a:spcBef>
              <a:spcAft>
                <a:spcPts val="0"/>
              </a:spcAft>
              <a:buNone/>
            </a:pPr>
            <a:endParaRPr lang="en-IN" dirty="0">
              <a:solidFill>
                <a:schemeClr val="dk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45720" lvl="0" indent="0" algn="ctr" rtl="0">
              <a:spcBef>
                <a:spcPts val="36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C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MENTOR : </a:t>
            </a:r>
            <a:r>
              <a:rPr lang="en-US" b="1" dirty="0" err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Dr.S.ANANDAMURUGAN</a:t>
            </a:r>
            <a:endParaRPr lang="en-US" b="1" dirty="0"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45720" lvl="0" indent="0" rtl="0">
              <a:spcBef>
                <a:spcPts val="360"/>
              </a:spcBef>
              <a:spcAft>
                <a:spcPts val="0"/>
              </a:spcAft>
              <a:buNone/>
            </a:pPr>
            <a:r>
              <a:rPr lang="en-US" sz="2000" dirty="0"/>
              <a:t>		     </a:t>
            </a:r>
            <a:r>
              <a:rPr lang="en-US" sz="1600" dirty="0"/>
              <a:t>Head of the Department, </a:t>
            </a:r>
          </a:p>
          <a:p>
            <a:pPr marL="0" marR="45720" lvl="0" indent="0" rtl="0">
              <a:spcBef>
                <a:spcPts val="360"/>
              </a:spcBef>
              <a:spcAft>
                <a:spcPts val="0"/>
              </a:spcAft>
              <a:buNone/>
            </a:pPr>
            <a:r>
              <a:rPr lang="en-US" sz="1600" dirty="0"/>
              <a:t>		      Department of Information Technology</a:t>
            </a:r>
            <a:endParaRPr lang="en-US" sz="1600" b="1" dirty="0"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45720" lvl="0" indent="0" algn="ctr" rtl="0">
              <a:spcBef>
                <a:spcPts val="360"/>
              </a:spcBef>
              <a:spcAft>
                <a:spcPts val="0"/>
              </a:spcAft>
              <a:buNone/>
            </a:pPr>
            <a:endParaRPr lang="en-US" sz="2000" b="1" dirty="0">
              <a:solidFill>
                <a:srgbClr val="C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45720" lvl="0" indent="0" rtl="0">
              <a:spcBef>
                <a:spcPts val="36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    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ME</a:t>
            </a:r>
            <a:r>
              <a:rPr lang="en-US" b="1" dirty="0">
                <a:solidFill>
                  <a:srgbClr val="C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MBERS: </a:t>
            </a:r>
            <a:r>
              <a:rPr lang="en-US" sz="1600" b="1" dirty="0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IMMANUVEL  R  (22ITR035)</a:t>
            </a:r>
          </a:p>
          <a:p>
            <a:pPr marL="0" marR="45720" lvl="0" indent="0" rtl="0">
              <a:spcBef>
                <a:spcPts val="360"/>
              </a:spcBef>
              <a:spcAft>
                <a:spcPts val="0"/>
              </a:spcAft>
              <a:buNone/>
            </a:pPr>
            <a:r>
              <a:rPr lang="en-US" sz="1600" b="1" i="0" u="none" strike="noStrike" cap="none" dirty="0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                           	   KRITTIKA R</a:t>
            </a:r>
            <a:r>
              <a:rPr lang="en-US" sz="1600" b="1" dirty="0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(22ITR053)</a:t>
            </a:r>
          </a:p>
          <a:p>
            <a:pPr marL="0" marR="45720" lvl="0" indent="0" rtl="0">
              <a:spcBef>
                <a:spcPts val="360"/>
              </a:spcBef>
              <a:spcAft>
                <a:spcPts val="0"/>
              </a:spcAft>
              <a:buNone/>
            </a:pPr>
            <a:r>
              <a:rPr lang="en-US" sz="1600" b="1" i="0" u="none" strike="noStrike" cap="none" dirty="0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                                 BARATH KUMAR R</a:t>
            </a:r>
            <a:r>
              <a:rPr lang="en-US" sz="1600" b="1" dirty="0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(22ITL121)</a:t>
            </a:r>
            <a:endParaRPr sz="1600" b="0" i="0" u="none" strike="noStrike" cap="none" dirty="0"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45720" lvl="0" indent="0" algn="ctr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ct val="80000"/>
              <a:buFont typeface="Noto Sans Symbols"/>
              <a:buNone/>
            </a:pPr>
            <a:endParaRPr sz="1800" b="0" i="0" u="none" strike="noStrike" cap="none" dirty="0">
              <a:solidFill>
                <a:schemeClr val="dk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6490" y="577915"/>
            <a:ext cx="8229600" cy="713403"/>
          </a:xfrm>
        </p:spPr>
        <p:txBody>
          <a:bodyPr/>
          <a:lstStyle/>
          <a:p>
            <a:pPr algn="ctr"/>
            <a:r>
              <a:rPr lang="en-US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" panose="02020603050405020304"/>
              </a:rPr>
              <a:t>PROBLEM STATEMENT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9A633FB-49BA-741F-849A-4D4C6DE409E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004159" y="1447800"/>
            <a:ext cx="7434262" cy="29510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Traditional employee management systems often lack integration, leading to: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 Inefficient data management across departments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 Time-consuming manual processes for attendance and leave management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 Lack of real-time insights for decision-making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 Communication gaps between management and employees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Need for a unified platform that addresses all aspects of employee management.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1612A3-C0CB-1D23-22FC-F31DF75451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6943" y="4010389"/>
            <a:ext cx="2647221" cy="26472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6490" y="577915"/>
            <a:ext cx="8229600" cy="713403"/>
          </a:xfrm>
        </p:spPr>
        <p:txBody>
          <a:bodyPr/>
          <a:lstStyle/>
          <a:p>
            <a:pPr algn="ctr"/>
            <a:r>
              <a:rPr lang="en-IN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OBJECTIVE</a:t>
            </a:r>
            <a:endParaRPr lang="en-IN" b="1" dirty="0">
              <a:latin typeface="Algerian" panose="04020705040A02060702" pitchFamily="82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5C75F2EF-F367-C057-6453-67ECF58136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1905000"/>
            <a:ext cx="7543800" cy="2585323"/>
          </a:xfrm>
          <a:prstGeom prst="rect">
            <a:avLst/>
          </a:prstGeom>
          <a:noFill/>
          <a:ln w="9525"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marL="273050" indent="-273050" algn="l" rtl="0" eaLnBrk="0" fontAlgn="base" hangingPunct="0">
              <a:spcBef>
                <a:spcPct val="200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Ø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0080" indent="-246380" algn="l" rtl="0" eaLnBrk="0" fontAlgn="base" hangingPunct="0">
              <a:spcBef>
                <a:spcPct val="200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Ø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46380" algn="l" rtl="0" eaLnBrk="0" fontAlgn="base" hangingPunct="0">
              <a:spcBef>
                <a:spcPct val="200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Ø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87450" indent="-209550" algn="l" rtl="0" eaLnBrk="0" fontAlgn="base" hangingPunct="0">
              <a:spcBef>
                <a:spcPct val="200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Ø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62405" indent="-209550" algn="l" rtl="0" eaLnBrk="0" fontAlgn="base" hangingPunct="0">
              <a:spcBef>
                <a:spcPct val="200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Ø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37360" indent="-210185" algn="l" rtl="0" eaLnBrk="1" latinLnBrk="0" hangingPunct="1">
              <a:spcBef>
                <a:spcPct val="20000"/>
              </a:spcBef>
              <a:buClr>
                <a:schemeClr val="accent5"/>
              </a:buClr>
              <a:buSzPct val="80000"/>
              <a:buFont typeface="Wingdings 2" panose="05020102010507070707"/>
              <a:buChar char="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SzPct val="80000"/>
              <a:buFont typeface="Wingdings 2" panose="05020102010507070707"/>
              <a:buChar char="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6888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Char char="•"/>
              <a:defRPr kumimoji="0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Develop an integrated system for comprehensive employee data management</a:t>
            </a:r>
          </a:p>
          <a:p>
            <a:pPr algn="just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Automate attendance tracking and leave management processes</a:t>
            </a:r>
          </a:p>
          <a:p>
            <a:pPr algn="just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Implement a real-time salary calculation system</a:t>
            </a:r>
          </a:p>
          <a:p>
            <a:pPr algn="just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Enhance communication between management and employees</a:t>
            </a:r>
          </a:p>
          <a:p>
            <a:pPr algn="just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Provide a user-friendly interface for both administrators and employees</a:t>
            </a:r>
          </a:p>
          <a:p>
            <a:pPr algn="just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Ensure data security and role-based access control.</a:t>
            </a:r>
          </a:p>
          <a:p>
            <a:pPr algn="just">
              <a:spcBef>
                <a:spcPct val="0"/>
              </a:spcBef>
              <a:buSzTx/>
            </a:pPr>
            <a:endParaRPr lang="en-US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6490" y="577915"/>
            <a:ext cx="8229600" cy="713403"/>
          </a:xfrm>
        </p:spPr>
        <p:txBody>
          <a:bodyPr/>
          <a:lstStyle/>
          <a:p>
            <a:pPr algn="ctr"/>
            <a:r>
              <a:rPr lang="en-IN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PROJECT DESCRIPTION</a:t>
            </a:r>
            <a:endParaRPr lang="en-IN" b="1" dirty="0">
              <a:latin typeface="Algerian" panose="04020705040A02060702" pitchFamily="82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FB4C8D5-A697-1201-5DE5-1A32C15CBA4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49390" y="1828800"/>
            <a:ext cx="7543800" cy="44135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n-GB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Comprehensive Employee Management</a:t>
            </a: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 web application for managing employee data, attendance, and roles.</a:t>
            </a:r>
          </a:p>
          <a:p>
            <a:pPr algn="just"/>
            <a:endParaRPr lang="en-GB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GB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User-Friendly Interface</a:t>
            </a: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Intuitive design for ease of use by admins and employees.</a:t>
            </a:r>
          </a:p>
          <a:p>
            <a:pPr algn="just"/>
            <a:endParaRPr lang="en-GB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GB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Secure Access</a:t>
            </a: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Role-based access control to protect sensitive information.</a:t>
            </a:r>
          </a:p>
          <a:p>
            <a:pPr algn="just"/>
            <a:endParaRPr lang="en-GB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GB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Updates</a:t>
            </a: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Live updates on employee status, attendance, and records.</a:t>
            </a:r>
          </a:p>
          <a:p>
            <a:pPr algn="just"/>
            <a:endParaRPr lang="en-GB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GB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Scalable Architecture</a:t>
            </a: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Designed to support growing organizations and additional features.</a:t>
            </a:r>
          </a:p>
          <a:p>
            <a:pPr marR="0" lvl="0" algn="just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167" y="248428"/>
            <a:ext cx="8229600" cy="912845"/>
          </a:xfrm>
        </p:spPr>
        <p:txBody>
          <a:bodyPr/>
          <a:lstStyle/>
          <a:p>
            <a:pPr algn="ctr"/>
            <a:r>
              <a:rPr lang="en-IN" sz="36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TECHNOLOGY USED</a:t>
            </a:r>
          </a:p>
        </p:txBody>
      </p:sp>
      <p:sp>
        <p:nvSpPr>
          <p:cNvPr id="4" name="Content Placeholder 2"/>
          <p:cNvSpPr txBox="1"/>
          <p:nvPr/>
        </p:nvSpPr>
        <p:spPr>
          <a:xfrm>
            <a:off x="5638801" y="1507958"/>
            <a:ext cx="4260767" cy="5085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7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2004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Font typeface="Noto Sans Symbols"/>
              <a:buChar char="⮚"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2004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Font typeface="Noto Sans Symbols"/>
              <a:buChar char="⮚"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004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Font typeface="Noto Sans Symbols"/>
              <a:buChar char="⮚"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2004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Font typeface="Noto Sans Symbols"/>
              <a:buChar char="⮚"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2004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Font typeface="Noto Sans Symbols"/>
              <a:buChar char="⮚"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2004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5"/>
              </a:buClr>
              <a:buSzPts val="1440"/>
              <a:buFont typeface="Noto Sans Symbols"/>
              <a:buChar char="⚫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2004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6"/>
              </a:buClr>
              <a:buSzPts val="1440"/>
              <a:buFont typeface="Noto Sans Symbols"/>
              <a:buChar char="⚫"/>
              <a:defRPr sz="16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/>
              <a:buChar char="•"/>
              <a:defRPr sz="16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indent="0">
              <a:lnSpc>
                <a:spcPct val="150000"/>
              </a:lnSpc>
              <a:buFont typeface="Noto Sans Symbols"/>
              <a:buNone/>
            </a:pPr>
            <a:r>
              <a:rPr lang="en-IN" sz="24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BACK-END:</a:t>
            </a:r>
          </a:p>
          <a:p>
            <a:pPr marL="0" indent="0">
              <a:lnSpc>
                <a:spcPct val="150000"/>
              </a:lnSpc>
              <a:buFont typeface="Noto Sans Symbols"/>
              <a:buNone/>
            </a:pP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Font typeface="Noto Sans Symbols"/>
              <a:buNone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Express.js</a:t>
            </a:r>
          </a:p>
          <a:p>
            <a:pPr marL="0" indent="0">
              <a:lnSpc>
                <a:spcPct val="150000"/>
              </a:lnSpc>
              <a:buFont typeface="Noto Sans Symbols"/>
              <a:buNone/>
            </a:pP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Font typeface="Noto Sans Symbols"/>
              <a:buNone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MongoDB</a:t>
            </a:r>
            <a:endParaRPr lang="en-I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Font typeface="Noto Sans Symbols"/>
              <a:buNone/>
            </a:pP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Font typeface="Noto Sans Symbols"/>
              <a:buNone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Twilio</a:t>
            </a:r>
            <a:endParaRPr lang="en-I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Font typeface="Noto Sans Symbols"/>
              <a:buNone/>
            </a:pP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Font typeface="Noto Sans Symbols"/>
              <a:buNone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Render</a:t>
            </a:r>
          </a:p>
          <a:p>
            <a:pPr marL="0" indent="0">
              <a:lnSpc>
                <a:spcPct val="150000"/>
              </a:lnSpc>
              <a:buFont typeface="Noto Sans Symbols"/>
              <a:buNone/>
            </a:pP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Font typeface="Noto Sans Symbols"/>
              <a:buNone/>
            </a:pPr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Nodemailer</a:t>
            </a:r>
            <a:endParaRPr lang="en-US" sz="2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Font typeface="Noto Sans Symbols"/>
              <a:buNone/>
            </a:pP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Font typeface="Noto Sans Symbols"/>
              <a:buNone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JWT</a:t>
            </a: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5BC973-DC6B-6A5C-584E-D87DBA081745}"/>
              </a:ext>
            </a:extLst>
          </p:cNvPr>
          <p:cNvSpPr txBox="1"/>
          <p:nvPr/>
        </p:nvSpPr>
        <p:spPr>
          <a:xfrm>
            <a:off x="1143001" y="1524000"/>
            <a:ext cx="2362200" cy="2345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2004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Font typeface="Noto Sans Symbols"/>
              <a:buChar char="⮚"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2004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Font typeface="Noto Sans Symbols"/>
              <a:buChar char="⮚"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004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Font typeface="Noto Sans Symbols"/>
              <a:buChar char="⮚"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2004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Font typeface="Noto Sans Symbols"/>
              <a:buChar char="⮚"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2004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Font typeface="Noto Sans Symbols"/>
              <a:buChar char="⮚"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2004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5"/>
              </a:buClr>
              <a:buSzPts val="1440"/>
              <a:buFont typeface="Noto Sans Symbols"/>
              <a:buChar char="⚫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2004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6"/>
              </a:buClr>
              <a:buSzPts val="1440"/>
              <a:buFont typeface="Noto Sans Symbols"/>
              <a:buChar char="⚫"/>
              <a:defRPr sz="16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/>
              <a:buChar char="•"/>
              <a:defRPr sz="16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indent="0">
              <a:lnSpc>
                <a:spcPct val="150000"/>
              </a:lnSpc>
              <a:buFont typeface="Noto Sans Symbols"/>
              <a:buNone/>
            </a:pPr>
            <a:r>
              <a:rPr lang="en-IN" sz="24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FRONT-END:</a:t>
            </a:r>
          </a:p>
          <a:p>
            <a:pPr marL="0" indent="0">
              <a:lnSpc>
                <a:spcPct val="150000"/>
              </a:lnSpc>
              <a:buFont typeface="Noto Sans Symbols"/>
              <a:buNone/>
            </a:pP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Font typeface="Noto Sans Symbols"/>
              <a:buNone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ReactJS</a:t>
            </a:r>
          </a:p>
          <a:p>
            <a:pPr marL="0" indent="0">
              <a:lnSpc>
                <a:spcPct val="150000"/>
              </a:lnSpc>
              <a:buFont typeface="Noto Sans Symbols"/>
              <a:buNone/>
            </a:pP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React">
            <a:extLst>
              <a:ext uri="{FF2B5EF4-FFF2-40B4-BE49-F238E27FC236}">
                <a16:creationId xmlns:a16="http://schemas.microsoft.com/office/drawing/2014/main" id="{6B0A4973-37F2-AB34-4A3A-076DDABD97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3183571"/>
            <a:ext cx="13716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ow to Make an API with Express.js: A ...">
            <a:extLst>
              <a:ext uri="{FF2B5EF4-FFF2-40B4-BE49-F238E27FC236}">
                <a16:creationId xmlns:a16="http://schemas.microsoft.com/office/drawing/2014/main" id="{F42CDBD5-2701-5EEE-BB9B-FC906BBDDB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7542" y="2133600"/>
            <a:ext cx="1371762" cy="912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hat Is MongoDB? - GTech">
            <a:extLst>
              <a:ext uri="{FF2B5EF4-FFF2-40B4-BE49-F238E27FC236}">
                <a16:creationId xmlns:a16="http://schemas.microsoft.com/office/drawing/2014/main" id="{3C9DEF65-4F86-5692-2D19-AE493AA6E2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4031" y="2819400"/>
            <a:ext cx="1932493" cy="884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ntegrating Salesforce and Twilio - SMBHD">
            <a:extLst>
              <a:ext uri="{FF2B5EF4-FFF2-40B4-BE49-F238E27FC236}">
                <a16:creationId xmlns:a16="http://schemas.microsoft.com/office/drawing/2014/main" id="{3A13954D-C6E9-4A71-4663-09B23BE847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647" y="3493992"/>
            <a:ext cx="1113502" cy="11135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Render (@render) / X">
            <a:extLst>
              <a:ext uri="{FF2B5EF4-FFF2-40B4-BE49-F238E27FC236}">
                <a16:creationId xmlns:a16="http://schemas.microsoft.com/office/drawing/2014/main" id="{D6F60FF0-3604-FC6B-F36D-E8A5C0EC9D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5286" y="4303732"/>
            <a:ext cx="988463" cy="988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Medusa - medusa-plugin-nodemailer | Medusa">
            <a:extLst>
              <a:ext uri="{FF2B5EF4-FFF2-40B4-BE49-F238E27FC236}">
                <a16:creationId xmlns:a16="http://schemas.microsoft.com/office/drawing/2014/main" id="{4E4FFF34-57E1-42C9-7B11-6330A11D86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6672" y="4953000"/>
            <a:ext cx="1113502" cy="11135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JSON Web Token color icon in PNG, SVG">
            <a:extLst>
              <a:ext uri="{FF2B5EF4-FFF2-40B4-BE49-F238E27FC236}">
                <a16:creationId xmlns:a16="http://schemas.microsoft.com/office/drawing/2014/main" id="{27D019F8-E201-F78F-79FD-E1A6D8648B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4031" y="5715000"/>
            <a:ext cx="988464" cy="988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1134" y="704850"/>
            <a:ext cx="8005665" cy="657419"/>
          </a:xfrm>
        </p:spPr>
        <p:txBody>
          <a:bodyPr/>
          <a:lstStyle/>
          <a:p>
            <a:pPr algn="ctr"/>
            <a:r>
              <a:rPr lang="en-IN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1026695" y="2245531"/>
            <a:ext cx="4288082" cy="4389437"/>
          </a:xfrm>
        </p:spPr>
        <p:txBody>
          <a:bodyPr/>
          <a:lstStyle/>
          <a:p>
            <a:r>
              <a:rPr lang="en-US" dirty="0"/>
              <a:t>Admin Dashboard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Add Employee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Update Employee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Delete(Resigned) Employee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Track attendance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Integrated messaging system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Leave Management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Holiday management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Information Passing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Salary calculation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622B14B-ED52-24CF-5CAD-5612960AA095}"/>
              </a:ext>
            </a:extLst>
          </p:cNvPr>
          <p:cNvSpPr txBox="1">
            <a:spLocks/>
          </p:cNvSpPr>
          <p:nvPr/>
        </p:nvSpPr>
        <p:spPr>
          <a:xfrm>
            <a:off x="5065295" y="2245530"/>
            <a:ext cx="4114800" cy="4389437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marL="273050" indent="-273050" algn="l" rtl="0" eaLnBrk="0" fontAlgn="base" hangingPunct="0">
              <a:spcBef>
                <a:spcPct val="200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Ø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0080" indent="-246380" algn="l" rtl="0" eaLnBrk="0" fontAlgn="base" hangingPunct="0">
              <a:spcBef>
                <a:spcPct val="200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Ø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46380" algn="l" rtl="0" eaLnBrk="0" fontAlgn="base" hangingPunct="0">
              <a:spcBef>
                <a:spcPct val="200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Ø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87450" indent="-209550" algn="l" rtl="0" eaLnBrk="0" fontAlgn="base" hangingPunct="0">
              <a:spcBef>
                <a:spcPct val="200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Ø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62405" indent="-209550" algn="l" rtl="0" eaLnBrk="0" fontAlgn="base" hangingPunct="0">
              <a:spcBef>
                <a:spcPct val="200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Ø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37360" indent="-210185" algn="l" rtl="0" eaLnBrk="1" latinLnBrk="0" hangingPunct="1">
              <a:spcBef>
                <a:spcPct val="20000"/>
              </a:spcBef>
              <a:buClr>
                <a:schemeClr val="accent5"/>
              </a:buClr>
              <a:buSzPct val="80000"/>
              <a:buFont typeface="Wingdings 2" panose="05020102010507070707"/>
              <a:buChar char="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SzPct val="80000"/>
              <a:buFont typeface="Wingdings 2" panose="05020102010507070707"/>
              <a:buChar char="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6888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Char char="•"/>
              <a:defRPr kumimoji="0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Employee Dashboard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Personal details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Leave application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Attendance &amp; salary viewing</a:t>
            </a:r>
          </a:p>
          <a:p>
            <a:endParaRPr lang="en-US" dirty="0"/>
          </a:p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870AFD-D6C7-095D-930C-6226B6AA25B3}"/>
              </a:ext>
            </a:extLst>
          </p:cNvPr>
          <p:cNvSpPr txBox="1"/>
          <p:nvPr/>
        </p:nvSpPr>
        <p:spPr>
          <a:xfrm>
            <a:off x="3371513" y="1600200"/>
            <a:ext cx="23207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ctr">
              <a:buFont typeface="Wingdings" panose="05000000000000000000" pitchFamily="2" charset="2"/>
              <a:buChar char="Ø"/>
            </a:pPr>
            <a:r>
              <a:rPr lang="en-US" sz="2000" dirty="0"/>
              <a:t>Login</a:t>
            </a: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6490" y="577915"/>
            <a:ext cx="8229600" cy="713403"/>
          </a:xfrm>
        </p:spPr>
        <p:txBody>
          <a:bodyPr/>
          <a:lstStyle/>
          <a:p>
            <a:pPr algn="ctr"/>
            <a:r>
              <a:rPr lang="en-IN" altLang="en-US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" panose="02020603050405020304"/>
              </a:rPr>
              <a:t>NOVELTY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C2F7489-71EB-4DBD-C446-FA64316F5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E6CFD1E5-42A7-2555-8A7F-733120439F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08780E82-12A5-50E9-2724-75AC8711A1D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2133600" y="1537969"/>
            <a:ext cx="7499350" cy="37820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1. Integrated Excel-based Attendance Upload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	- Automatic processing and status updates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2. Smart Leave Management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	- Automatic notifications and leave handling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3. Real-time Salary Calculation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	- Adjustments for uninformed leaves and rejections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4. Multi-channel Communication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	- In-app(</a:t>
            </a:r>
            <a:r>
              <a:rPr lang="en-US" alt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odemailer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and SMS notifications 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with Twilio integration.</a:t>
            </a: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37572"/>
            <a:ext cx="8229600" cy="643813"/>
          </a:xfrm>
        </p:spPr>
        <p:txBody>
          <a:bodyPr/>
          <a:lstStyle/>
          <a:p>
            <a:pPr algn="ctr"/>
            <a:r>
              <a:rPr lang="en-IN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 Description </a:t>
            </a:r>
            <a:br>
              <a:rPr lang="en-IN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Employee Management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3E2F76-A1CB-178D-5876-85BBC43ACE61}"/>
              </a:ext>
            </a:extLst>
          </p:cNvPr>
          <p:cNvSpPr txBox="1"/>
          <p:nvPr/>
        </p:nvSpPr>
        <p:spPr>
          <a:xfrm>
            <a:off x="762000" y="1528027"/>
            <a:ext cx="5562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/>
              <a:t>Comprehensive employee data management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- Personal and professional details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- Resignation and update management.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B66B144-AE17-FCB2-7A8B-1B709B8B0805}"/>
              </a:ext>
            </a:extLst>
          </p:cNvPr>
          <p:cNvSpPr txBox="1">
            <a:spLocks/>
          </p:cNvSpPr>
          <p:nvPr/>
        </p:nvSpPr>
        <p:spPr>
          <a:xfrm>
            <a:off x="457200" y="3757087"/>
            <a:ext cx="8229600" cy="643813"/>
          </a:xfrm>
          <a:prstGeom prst="rect">
            <a:avLst/>
          </a:prstGeom>
          <a:noFill/>
          <a:ln w="9525">
            <a:noFill/>
          </a:ln>
        </p:spPr>
        <p:txBody>
          <a:bodyPr lIns="0" rIns="0" bIns="0" anchor="b" anchorCtr="0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2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accent1"/>
                </a:solidFill>
                <a:latin typeface="Arial" panose="020B0604020202020204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accent1"/>
                </a:solidFill>
                <a:latin typeface="Arial" panose="020B0604020202020204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accent1"/>
                </a:solidFill>
                <a:latin typeface="Arial" panose="020B0604020202020204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accent1"/>
                </a:solidFill>
                <a:latin typeface="Arial" panose="020B0604020202020204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5000">
                <a:solidFill>
                  <a:schemeClr val="tx2"/>
                </a:solidFill>
                <a:latin typeface="Calibri" panose="020F0502020204030204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5000">
                <a:solidFill>
                  <a:schemeClr val="tx2"/>
                </a:solidFill>
                <a:latin typeface="Calibri" panose="020F0502020204030204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5000">
                <a:solidFill>
                  <a:schemeClr val="tx2"/>
                </a:solidFill>
                <a:latin typeface="Calibri" panose="020F0502020204030204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5000">
                <a:solidFill>
                  <a:schemeClr val="tx2"/>
                </a:solidFill>
                <a:latin typeface="Calibri" panose="020F0502020204030204" pitchFamily="34" charset="0"/>
              </a:defRPr>
            </a:lvl9pPr>
          </a:lstStyle>
          <a:p>
            <a:pPr algn="ctr"/>
            <a:r>
              <a:rPr lang="en-IN" sz="2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Attendance Management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719AD3-C233-E132-8E13-CB57B2FBCFF2}"/>
              </a:ext>
            </a:extLst>
          </p:cNvPr>
          <p:cNvSpPr txBox="1"/>
          <p:nvPr/>
        </p:nvSpPr>
        <p:spPr>
          <a:xfrm>
            <a:off x="1980487" y="4572000"/>
            <a:ext cx="5638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Tx/>
              <a:buChar char="-"/>
            </a:pPr>
            <a:r>
              <a:rPr lang="en-US" dirty="0"/>
              <a:t>Excel-based upload</a:t>
            </a:r>
          </a:p>
          <a:p>
            <a:pPr marL="285750" indent="-285750" algn="just">
              <a:buFontTx/>
              <a:buChar char="-"/>
            </a:pPr>
            <a:endParaRPr lang="en-US" dirty="0"/>
          </a:p>
          <a:p>
            <a:pPr marL="285750" indent="-285750" algn="just">
              <a:buFontTx/>
              <a:buChar char="-"/>
            </a:pPr>
            <a:r>
              <a:rPr lang="en-US" dirty="0"/>
              <a:t>Real-time dashboard for tracking and updates</a:t>
            </a:r>
          </a:p>
          <a:p>
            <a:pPr marL="285750" indent="-285750" algn="just">
              <a:buFontTx/>
              <a:buChar char="-"/>
            </a:pPr>
            <a:endParaRPr lang="en-US" dirty="0"/>
          </a:p>
          <a:p>
            <a:pPr marL="285750" indent="-285750" algn="just">
              <a:buFontTx/>
              <a:buChar char="-"/>
            </a:pPr>
            <a:r>
              <a:rPr lang="en-US" dirty="0"/>
              <a:t>Holiday management.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1052D93-0C38-A1DA-46E6-13E9602038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388" y="3757087"/>
            <a:ext cx="1329099" cy="16484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657D339-2A9A-F3B5-463B-CEF9F0B62D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8668" y="5596641"/>
            <a:ext cx="3810532" cy="10764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EA4DAA6-A4E3-D869-C90B-35F2B32E7C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2999" y="1855635"/>
            <a:ext cx="4148937" cy="217436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2BC4D17-873D-AC38-AB93-22269EC77D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96605" y="3022232"/>
            <a:ext cx="2403282" cy="84729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3AE82-5DA4-9C53-8D7F-567205AD9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0B6CE-D2DA-D3E8-4A1C-0256ED180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3400"/>
            <a:ext cx="8229600" cy="643813"/>
          </a:xfrm>
        </p:spPr>
        <p:txBody>
          <a:bodyPr/>
          <a:lstStyle/>
          <a:p>
            <a:pPr algn="ctr"/>
            <a:r>
              <a:rPr lang="en-IN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Leave Management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69AE4C-08BD-01FA-EE68-7E75BDC150DD}"/>
              </a:ext>
            </a:extLst>
          </p:cNvPr>
          <p:cNvSpPr txBox="1"/>
          <p:nvPr/>
        </p:nvSpPr>
        <p:spPr>
          <a:xfrm>
            <a:off x="4168877" y="1461986"/>
            <a:ext cx="5257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Leave applications with automated email notifications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r>
              <a:rPr lang="en-US" dirty="0"/>
              <a:t>Status tracking and integration with salary module.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5861655-9593-F3AC-6BAA-3DE0E83C4D23}"/>
              </a:ext>
            </a:extLst>
          </p:cNvPr>
          <p:cNvSpPr txBox="1">
            <a:spLocks/>
          </p:cNvSpPr>
          <p:nvPr/>
        </p:nvSpPr>
        <p:spPr>
          <a:xfrm>
            <a:off x="609600" y="2971800"/>
            <a:ext cx="8229600" cy="643813"/>
          </a:xfrm>
          <a:prstGeom prst="rect">
            <a:avLst/>
          </a:prstGeom>
          <a:noFill/>
          <a:ln w="9525">
            <a:noFill/>
          </a:ln>
        </p:spPr>
        <p:txBody>
          <a:bodyPr lIns="0" rIns="0" bIns="0" anchor="b" anchorCtr="0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2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accent1"/>
                </a:solidFill>
                <a:latin typeface="Arial" panose="020B0604020202020204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accent1"/>
                </a:solidFill>
                <a:latin typeface="Arial" panose="020B0604020202020204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accent1"/>
                </a:solidFill>
                <a:latin typeface="Arial" panose="020B0604020202020204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accent1"/>
                </a:solidFill>
                <a:latin typeface="Arial" panose="020B0604020202020204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5000">
                <a:solidFill>
                  <a:schemeClr val="tx2"/>
                </a:solidFill>
                <a:latin typeface="Calibri" panose="020F0502020204030204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5000">
                <a:solidFill>
                  <a:schemeClr val="tx2"/>
                </a:solidFill>
                <a:latin typeface="Calibri" panose="020F0502020204030204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5000">
                <a:solidFill>
                  <a:schemeClr val="tx2"/>
                </a:solidFill>
                <a:latin typeface="Calibri" panose="020F0502020204030204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5000">
                <a:solidFill>
                  <a:schemeClr val="tx2"/>
                </a:solidFill>
                <a:latin typeface="Calibri" panose="020F0502020204030204" pitchFamily="34" charset="0"/>
              </a:defRPr>
            </a:lvl9pPr>
          </a:lstStyle>
          <a:p>
            <a:pPr algn="ctr"/>
            <a:r>
              <a:rPr lang="en-IN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Salary Calculation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295316-D683-0D51-BBD4-451D2A82AB9A}"/>
              </a:ext>
            </a:extLst>
          </p:cNvPr>
          <p:cNvSpPr txBox="1"/>
          <p:nvPr/>
        </p:nvSpPr>
        <p:spPr>
          <a:xfrm>
            <a:off x="2057400" y="3900386"/>
            <a:ext cx="64008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/>
              <a:t>Automated monthly calculations including DA and PF</a:t>
            </a:r>
          </a:p>
          <a:p>
            <a:pPr marL="285750" indent="-285750" algn="just">
              <a:buFontTx/>
              <a:buChar char="-"/>
            </a:pPr>
            <a:endParaRPr lang="en-US" dirty="0"/>
          </a:p>
          <a:p>
            <a:pPr algn="just"/>
            <a:r>
              <a:rPr lang="en-US" dirty="0"/>
              <a:t>Deductions for uninformed leaves.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1BF92DC-A9EB-9415-608B-E8112D0E1E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277" y="1209699"/>
            <a:ext cx="3276600" cy="184407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156C71D-4D69-9D7E-90EE-D20AFDF840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025" y="4953000"/>
            <a:ext cx="4694790" cy="57302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EAFF3B7-0E2B-4EC4-5768-14467A0A36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0720" y="5737123"/>
            <a:ext cx="5626080" cy="573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289348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4DF81-28A7-CF1C-F8EC-45299E79D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C11BB-906E-4120-AF26-CA283DF29B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3400"/>
            <a:ext cx="8229600" cy="643813"/>
          </a:xfrm>
        </p:spPr>
        <p:txBody>
          <a:bodyPr/>
          <a:lstStyle/>
          <a:p>
            <a:pPr algn="ctr"/>
            <a:r>
              <a:rPr lang="en-IN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Management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337AAF-ED40-1909-9D9F-4D397D0D823D}"/>
              </a:ext>
            </a:extLst>
          </p:cNvPr>
          <p:cNvSpPr txBox="1"/>
          <p:nvPr/>
        </p:nvSpPr>
        <p:spPr>
          <a:xfrm>
            <a:off x="1981200" y="1500242"/>
            <a:ext cx="5867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Manage the project list with employees working with it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3B9308D-CE72-24A0-CD97-B807E7A804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5087" y="2181225"/>
            <a:ext cx="4619625" cy="414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760454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5428E-5E1B-FD49-5297-DED52F200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2E834-D2D2-73AF-CCB1-F36ADD7C2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3400"/>
            <a:ext cx="8229600" cy="643813"/>
          </a:xfrm>
        </p:spPr>
        <p:txBody>
          <a:bodyPr/>
          <a:lstStyle/>
          <a:p>
            <a:pPr algn="ctr"/>
            <a:r>
              <a:rPr lang="en-IN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 System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DBB69D7-DCEA-02CE-1214-64161070145C}"/>
              </a:ext>
            </a:extLst>
          </p:cNvPr>
          <p:cNvSpPr txBox="1">
            <a:spLocks/>
          </p:cNvSpPr>
          <p:nvPr/>
        </p:nvSpPr>
        <p:spPr>
          <a:xfrm>
            <a:off x="462116" y="2888376"/>
            <a:ext cx="8229600" cy="643813"/>
          </a:xfrm>
          <a:prstGeom prst="rect">
            <a:avLst/>
          </a:prstGeom>
          <a:noFill/>
          <a:ln w="9525">
            <a:noFill/>
          </a:ln>
        </p:spPr>
        <p:txBody>
          <a:bodyPr lIns="0" rIns="0" bIns="0" anchor="b" anchorCtr="0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2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accent1"/>
                </a:solidFill>
                <a:latin typeface="Arial" panose="020B0604020202020204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accent1"/>
                </a:solidFill>
                <a:latin typeface="Arial" panose="020B0604020202020204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accent1"/>
                </a:solidFill>
                <a:latin typeface="Arial" panose="020B0604020202020204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accent1"/>
                </a:solidFill>
                <a:latin typeface="Arial" panose="020B0604020202020204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5000">
                <a:solidFill>
                  <a:schemeClr val="tx2"/>
                </a:solidFill>
                <a:latin typeface="Calibri" panose="020F0502020204030204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5000">
                <a:solidFill>
                  <a:schemeClr val="tx2"/>
                </a:solidFill>
                <a:latin typeface="Calibri" panose="020F0502020204030204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5000">
                <a:solidFill>
                  <a:schemeClr val="tx2"/>
                </a:solidFill>
                <a:latin typeface="Calibri" panose="020F0502020204030204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5000">
                <a:solidFill>
                  <a:schemeClr val="tx2"/>
                </a:solidFill>
                <a:latin typeface="Calibri" panose="020F0502020204030204" pitchFamily="34" charset="0"/>
              </a:defRPr>
            </a:lvl9pPr>
          </a:lstStyle>
          <a:p>
            <a:pPr algn="ctr"/>
            <a:r>
              <a:rPr lang="en-IN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Leave Application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DD555B-03EB-64BE-78D2-8AA4C4ADAF10}"/>
              </a:ext>
            </a:extLst>
          </p:cNvPr>
          <p:cNvSpPr txBox="1"/>
          <p:nvPr/>
        </p:nvSpPr>
        <p:spPr>
          <a:xfrm>
            <a:off x="2171700" y="1411048"/>
            <a:ext cx="43434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/>
              <a:t>Admin broadcast messaging with Twilio SMS notifications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Leave approval and rejection details sent using node mailer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597CB-0A36-698C-8ADF-522EA90888F5}"/>
              </a:ext>
            </a:extLst>
          </p:cNvPr>
          <p:cNvSpPr txBox="1"/>
          <p:nvPr/>
        </p:nvSpPr>
        <p:spPr>
          <a:xfrm>
            <a:off x="1143000" y="4217259"/>
            <a:ext cx="70866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/>
              <a:t>Employee applies for leave and wait for approval.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Will be displayed Approved/Rejected status after admin intervention.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12A00A8-F1F2-AB74-D18F-9A4C12EEF8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1800" y="1371600"/>
            <a:ext cx="1844842" cy="186224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96B4B26-F91C-5B66-B014-DE1F973713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800" y="5506065"/>
            <a:ext cx="6400800" cy="109888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05FCFC1-5894-E2F6-2433-8CBF391009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531387"/>
            <a:ext cx="5943600" cy="645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415937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FB1C3-7515-CB13-167E-9CDE1ABD7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F827A-DB7F-C8B6-E832-77F2CBDAA7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3400"/>
            <a:ext cx="8229600" cy="643813"/>
          </a:xfrm>
        </p:spPr>
        <p:txBody>
          <a:bodyPr/>
          <a:lstStyle/>
          <a:p>
            <a:pPr algn="ctr"/>
            <a:r>
              <a:rPr lang="en-IN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Flow chart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FDA07F-4AE8-88E8-5CB9-FB75B2CEB2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295400"/>
            <a:ext cx="7924800" cy="4378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623674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B156D-0FFE-905D-A76A-3F0F2B085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3AA6487-2275-C560-2561-08B8EF352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-4916"/>
            <a:ext cx="771818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3590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98E09-C60F-2D22-D48E-7E7A628F0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2400FD0-A67E-6B94-610A-E210BEA6B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0"/>
            <a:ext cx="69358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818132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3156A-38E9-DEB2-186B-9A1FCDE90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6566908-915F-5E2D-5C0E-6C4416E8FB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0"/>
            <a:ext cx="696657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42646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7D551-F60C-2441-242A-4C1036EC0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F0C2917-0861-B470-7806-AFBB1F98CC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73682"/>
            <a:ext cx="7830154" cy="5984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869355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/>
          <p:nvPr/>
        </p:nvSpPr>
        <p:spPr>
          <a:xfrm>
            <a:off x="699796" y="499187"/>
            <a:ext cx="8229600" cy="643813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ctr"/>
            <a:r>
              <a:rPr lang="en-IN" sz="32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 SCREENSHOT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BE300-21D0-00BF-34A8-B57E280053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186" y="1600200"/>
            <a:ext cx="7360819" cy="396731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210894D-6C03-B616-DEAA-EED12473A46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3-Sep-24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889E9D3-D850-A877-7FF3-5FA857ADD2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28599"/>
            <a:ext cx="6705600" cy="306766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53D040-8464-89AA-591E-DA2B8AAD4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601" y="3336608"/>
            <a:ext cx="7391400" cy="3485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438939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7B70A1-EBC1-FF69-4F41-DAA80E4ED34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3-Sep-24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A2E548-0CCE-9811-B198-25C2636019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75310"/>
            <a:ext cx="8050157" cy="36156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4BE1186-19DB-6114-1061-6013B98F5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193458"/>
            <a:ext cx="8050156" cy="1904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989575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585404-C800-B39F-0FA4-60B32D62842B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3-Sep-24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822EF9-5AEB-C0D7-E517-6E65593D1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4200" y="76200"/>
            <a:ext cx="5943600" cy="319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322FB62-BE54-1CC7-DA4F-EC013F0C6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3428999"/>
            <a:ext cx="7019947" cy="329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078411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4B07A-263B-CF21-3E4B-A68F57157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B7B135-614F-1234-6597-70CE3A0864D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3-Sep-24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528BF9-24E7-2F39-C149-F214DFBA46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76199"/>
            <a:ext cx="7239000" cy="336118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6E391EA-F207-4908-E89D-FD3829E970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795712"/>
            <a:ext cx="8153811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5560412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3BE6D-EA8D-9252-F1C0-666D0C586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AEB0AF-917B-1F64-083B-35EDBD050FD4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3-Sep-24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E29F8C-F2AA-8461-6D35-BC5EF937C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216" y="136525"/>
            <a:ext cx="6931578" cy="260840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B6DF540-4D83-1F96-9712-A7C5BA1B4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28082"/>
            <a:ext cx="7215995" cy="21401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15CE11D-3A0C-9C5A-0E82-A0B161B6C5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799" y="5034723"/>
            <a:ext cx="7215995" cy="1794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155710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4F095C-E902-2E5D-02EC-BE2921AD3AE2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3-Sep-24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B611C3-89B1-5BA8-1CBB-390E002F0B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685800"/>
            <a:ext cx="8001000" cy="307281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2576821-8202-D8B0-D305-5B8AEA9AD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900" y="3902152"/>
            <a:ext cx="3124200" cy="2802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034464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FACE1-554A-BF4D-62EE-AA958FB8E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9608BB-B55B-6654-2EFE-344496C0E56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3-Sep-24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FED5A1-A16F-2071-6D20-9D0893D0FC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150851"/>
            <a:ext cx="5638800" cy="397487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8B53280-9AB5-0B59-692B-10521AC78C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4128364"/>
            <a:ext cx="5638800" cy="2603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919904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42514-6FD5-7DB5-0A03-762423F45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BF7468-4059-A177-8B9B-A6A4A2831EA7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3-Sep-24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C10AA01-0816-FDB8-E87C-E69349BF2A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726065"/>
            <a:ext cx="5943600" cy="168275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345EB68-9B87-9714-436C-5EEDE71A28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2542458"/>
            <a:ext cx="5943600" cy="889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C4DFDA8-85B4-AAD7-8061-BAA915F977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3565101"/>
            <a:ext cx="5943600" cy="11582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399ABF7-E4E0-9748-E715-54017A4664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4984379"/>
            <a:ext cx="5943600" cy="78803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321CD45-6BA5-985A-FA56-9A2037C7A1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9200" y="6033452"/>
            <a:ext cx="5943600" cy="645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587476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6247A-A03D-97AF-FB38-A89EC9FB1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49C69C4-9A70-60FF-A295-E8C5498857B2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3-Sep-24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6D249B-D7D5-7D65-5D09-AE4B467A67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990600"/>
            <a:ext cx="8293395" cy="762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1431F57-8E4E-EFF3-6B0A-1F487E6BA8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1905000"/>
            <a:ext cx="7797929" cy="2133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AC97089-AEE5-3983-F6CB-1D3B7E3A03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1769" y="4274668"/>
            <a:ext cx="7912395" cy="2202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961659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4A08-8C7F-2F3F-3894-A60F01487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D8BC612-EF35-44BB-C370-0C69BAC56C22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3-Sep-24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2C6F7C-28AE-4E3C-8AA3-B8F6BC0E8E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605" y="881159"/>
            <a:ext cx="3628390" cy="12033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E833318-969A-66AB-C3C3-A8054A2C41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609600"/>
            <a:ext cx="4495800" cy="174644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D71C665-ED8B-7AC4-93FC-9DCA3313AF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800" y="2697783"/>
            <a:ext cx="7228135" cy="327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391421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77280-F1F2-6471-4ABA-89D465DF6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F4ECF9-687A-6E22-8867-748BA3578451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3-Sep-24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BA49B93-A9F2-FF4F-3C1D-3C6DD54F69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0" y="762000"/>
            <a:ext cx="5943600" cy="133159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8D7ABF9-5483-5D54-0917-7A3DEB0DF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400300"/>
            <a:ext cx="8135726" cy="205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0616512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45799-1448-C815-FFC7-715F68E88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6142F9-3FF7-E9CD-0809-B43076129BEF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3-Sep-24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A62B204-A348-9A94-FFBE-38D0065EE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600" y="762000"/>
            <a:ext cx="5943600" cy="201231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EC63F36-3A22-0441-64AE-BF1E11B01A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3293" y="4426359"/>
            <a:ext cx="3124540" cy="18415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C489F5-2A51-EAE2-5C4E-4A32154FAD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3293" y="3446584"/>
            <a:ext cx="3126508" cy="992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553976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4351EB-822C-A4C3-83BA-93443E2DF952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3-Sep-24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9891EC-3A7A-0BDA-B6A6-19C06E0E2D5F}"/>
              </a:ext>
            </a:extLst>
          </p:cNvPr>
          <p:cNvSpPr txBox="1"/>
          <p:nvPr/>
        </p:nvSpPr>
        <p:spPr>
          <a:xfrm>
            <a:off x="3733800" y="762000"/>
            <a:ext cx="2743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WORKS</a:t>
            </a:r>
            <a:endParaRPr lang="en-US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ED2065-FA68-6BFE-AA54-D46F1EB8F2E8}"/>
              </a:ext>
            </a:extLst>
          </p:cNvPr>
          <p:cNvSpPr txBox="1"/>
          <p:nvPr/>
        </p:nvSpPr>
        <p:spPr>
          <a:xfrm>
            <a:off x="1752600" y="1660525"/>
            <a:ext cx="685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Connect the EMS to payroll and finance systems for seamless salary processing, tax calculations, and benefits management.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C76435-3EBA-FE39-5CE3-DD97C51BBE8F}"/>
              </a:ext>
            </a:extLst>
          </p:cNvPr>
          <p:cNvSpPr txBox="1"/>
          <p:nvPr/>
        </p:nvSpPr>
        <p:spPr>
          <a:xfrm>
            <a:off x="1752600" y="2505670"/>
            <a:ext cx="6629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Support integrations with tools like Slack, Microsoft Teams, and calendar applications for better communication and scheduling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8296D5-3172-DBB4-8D90-A56B69DB926E}"/>
              </a:ext>
            </a:extLst>
          </p:cNvPr>
          <p:cNvSpPr txBox="1"/>
          <p:nvPr/>
        </p:nvSpPr>
        <p:spPr>
          <a:xfrm>
            <a:off x="1752600" y="3429000"/>
            <a:ext cx="685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Project management for tracking which employee works in which project.</a:t>
            </a:r>
          </a:p>
        </p:txBody>
      </p:sp>
    </p:spTree>
    <p:extLst>
      <p:ext uri="{BB962C8B-B14F-4D97-AF65-F5344CB8AC3E}">
        <p14:creationId xmlns:p14="http://schemas.microsoft.com/office/powerpoint/2010/main" val="2595230305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4D1B20-7A25-B6C0-ABE1-79F51BC6DAFB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3-Sep-24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5991EA-E975-24D4-DED2-9081C4AACFBF}"/>
              </a:ext>
            </a:extLst>
          </p:cNvPr>
          <p:cNvSpPr txBox="1"/>
          <p:nvPr/>
        </p:nvSpPr>
        <p:spPr>
          <a:xfrm>
            <a:off x="1552074" y="1905000"/>
            <a:ext cx="7543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Project git link:</a:t>
            </a:r>
          </a:p>
          <a:p>
            <a:r>
              <a:rPr lang="en-US" dirty="0">
                <a:hlinkClick r:id="rId2"/>
              </a:rPr>
              <a:t>https://github.com/Immanuvel1207/employee-Management-System</a:t>
            </a:r>
            <a:endParaRPr lang="en-US" dirty="0"/>
          </a:p>
          <a:p>
            <a:endParaRPr lang="en-US" dirty="0"/>
          </a:p>
          <a:p>
            <a:r>
              <a:rPr lang="en-US" dirty="0"/>
              <a:t>EMS Host-link: </a:t>
            </a:r>
          </a:p>
          <a:p>
            <a:r>
              <a:rPr lang="en-US" dirty="0">
                <a:hlinkClick r:id="rId3"/>
              </a:rPr>
              <a:t>https://employee-management-system-x7bb.onrender.com</a:t>
            </a:r>
            <a:endParaRPr lang="en-US" dirty="0"/>
          </a:p>
          <a:p>
            <a:endParaRPr lang="en-US" dirty="0"/>
          </a:p>
          <a:p>
            <a:r>
              <a:rPr lang="en-US" dirty="0"/>
              <a:t>Node.js Documentation: </a:t>
            </a:r>
            <a:r>
              <a:rPr lang="en-US" dirty="0">
                <a:hlinkClick r:id="rId4"/>
              </a:rPr>
              <a:t>https://nodejs.org/en/docs</a:t>
            </a:r>
            <a:endParaRPr lang="en-US" dirty="0"/>
          </a:p>
          <a:p>
            <a:endParaRPr lang="en-US" dirty="0"/>
          </a:p>
          <a:p>
            <a:r>
              <a:rPr lang="en-US" dirty="0"/>
              <a:t>React Documentation: </a:t>
            </a:r>
            <a:r>
              <a:rPr lang="en-US" dirty="0">
                <a:hlinkClick r:id="rId5"/>
              </a:rPr>
              <a:t>https://reactjs.org/docs/getting-started.html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MongoDB Documentation: </a:t>
            </a:r>
            <a:r>
              <a:rPr lang="en-US" dirty="0">
                <a:hlinkClick r:id="rId6"/>
              </a:rPr>
              <a:t>https://docs.mongodb.com/</a:t>
            </a:r>
            <a:endParaRPr lang="en-US" dirty="0"/>
          </a:p>
          <a:p>
            <a:endParaRPr lang="en-US" dirty="0"/>
          </a:p>
          <a:p>
            <a:r>
              <a:rPr lang="en-US" dirty="0"/>
              <a:t>Twilio API Documentation: </a:t>
            </a:r>
            <a:r>
              <a:rPr lang="en-US" dirty="0">
                <a:hlinkClick r:id="rId7"/>
              </a:rPr>
              <a:t>https://www.twilio.com/docs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772384-FE66-B230-E74E-CEA7083D9DA6}"/>
              </a:ext>
            </a:extLst>
          </p:cNvPr>
          <p:cNvSpPr txBox="1"/>
          <p:nvPr/>
        </p:nvSpPr>
        <p:spPr>
          <a:xfrm>
            <a:off x="3962400" y="1123890"/>
            <a:ext cx="1981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83052740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45"/>
          <p:cNvSpPr txBox="1">
            <a:spLocks noGrp="1"/>
          </p:cNvSpPr>
          <p:nvPr>
            <p:ph type="title"/>
          </p:nvPr>
        </p:nvSpPr>
        <p:spPr>
          <a:xfrm>
            <a:off x="685800" y="2209800"/>
            <a:ext cx="8229600" cy="14179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1" dirty="0">
                <a:solidFill>
                  <a:srgbClr val="C00000"/>
                </a:solidFill>
                <a:latin typeface="Times New Roman" panose="02020603050405020304" pitchFamily="18" charset="0"/>
                <a:ea typeface="Algerian" panose="04020705040A02060702"/>
                <a:cs typeface="Times New Roman" panose="02020603050405020304" pitchFamily="18" charset="0"/>
                <a:sym typeface="Algerian" panose="04020705040A02060702"/>
              </a:rPr>
              <a:t>THANK YOU</a:t>
            </a:r>
            <a:endParaRPr sz="5400" b="1" i="1" dirty="0">
              <a:solidFill>
                <a:schemeClr val="dk1"/>
              </a:solidFill>
              <a:latin typeface="Times New Roman" panose="02020603050405020304" pitchFamily="18" charset="0"/>
              <a:ea typeface="Algerian" panose="04020705040A02060702"/>
              <a:cs typeface="Times New Roman" panose="02020603050405020304" pitchFamily="18" charset="0"/>
              <a:sym typeface="Algerian" panose="04020705040A02060702"/>
            </a:endParaRPr>
          </a:p>
        </p:txBody>
      </p:sp>
    </p:spTree>
  </p:cSld>
  <p:clrMapOvr>
    <a:masterClrMapping/>
  </p:clrMapOvr>
  <p:transition>
    <p:fade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Flow">
  <a:themeElements>
    <a:clrScheme name="Flow">
      <a:dk1>
        <a:sysClr val="windowText" lastClr="000000"/>
      </a:dk1>
      <a:lt1>
        <a:sysClr val="window" lastClr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20000"/>
              </a:schemeClr>
            </a:gs>
            <a:gs pos="100000">
              <a:schemeClr val="phClr">
                <a:shade val="15000"/>
                <a:satMod val="320000"/>
              </a:schemeClr>
            </a:gs>
          </a:gsLst>
          <a:path path="circle">
            <a:fillToRect l="10000" t="110000" r="1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50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Foundry</Template>
  <TotalTime>467</TotalTime>
  <Words>613</Words>
  <Application>Microsoft Office PowerPoint</Application>
  <PresentationFormat>On-screen Show (4:3)</PresentationFormat>
  <Paragraphs>146</Paragraphs>
  <Slides>32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32</vt:i4>
      </vt:variant>
    </vt:vector>
  </HeadingPairs>
  <TitlesOfParts>
    <vt:vector size="42" baseType="lpstr">
      <vt:lpstr>Algerian</vt:lpstr>
      <vt:lpstr>Arial</vt:lpstr>
      <vt:lpstr>Calibri</vt:lpstr>
      <vt:lpstr>Noto Sans Symbols</vt:lpstr>
      <vt:lpstr>Times New Roman</vt:lpstr>
      <vt:lpstr>Wingdings</vt:lpstr>
      <vt:lpstr>Wingdings 2</vt:lpstr>
      <vt:lpstr>Flow</vt:lpstr>
      <vt:lpstr>1_Custom Design</vt:lpstr>
      <vt:lpstr>Custom Design</vt:lpstr>
      <vt:lpstr>PowerPoint Presentation</vt:lpstr>
      <vt:lpstr>PROBLEM STATEMENT</vt:lpstr>
      <vt:lpstr>OBJECTIVE</vt:lpstr>
      <vt:lpstr>PROJECT DESCRIPTION</vt:lpstr>
      <vt:lpstr>TECHNOLOGY USED</vt:lpstr>
      <vt:lpstr>MODULES</vt:lpstr>
      <vt:lpstr>NOVELTY</vt:lpstr>
      <vt:lpstr>Module Description   Employee Management</vt:lpstr>
      <vt:lpstr>Leave Management</vt:lpstr>
      <vt:lpstr>Project Management</vt:lpstr>
      <vt:lpstr>Communication System</vt:lpstr>
      <vt:lpstr>Flow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Immanuvel R</cp:lastModifiedBy>
  <cp:revision>11</cp:revision>
  <dcterms:created xsi:type="dcterms:W3CDTF">2013-12-25T07:56:38Z</dcterms:created>
  <dcterms:modified xsi:type="dcterms:W3CDTF">2024-11-11T02:32:13Z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D4B2BFA3221D46D18BEBB542456704B7_13</vt:lpwstr>
  </property>
  <property fmtid="{D5CDD505-2E9C-101B-9397-08002B2CF9AE}" pid="3" name="KSOProductBuildVer">
    <vt:lpwstr>1033-12.2.0.18283</vt:lpwstr>
  </property>
</Properties>
</file>